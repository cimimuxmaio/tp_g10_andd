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40B28-9222-4A8E-9C7B-1A0D57B10326}" type="datetimeFigureOut">
              <a:rPr lang="es-AR" smtClean="0"/>
              <a:t>13/6/2026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0956F-3841-4A2F-AC7D-D855FF477F3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861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0956F-3841-4A2F-AC7D-D855FF477F3C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425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2B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0" cy="146304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E7F5"/>
                </a:solidFill>
                <a:latin typeface="Calibri"/>
              </a:rPr>
              <a:t>ANÁLISIS EXPLORATORIO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Riesgo de
suicidio en
adolescentes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FD2EA"/>
                </a:solidFill>
                <a:latin typeface="Calibri"/>
              </a:rPr>
              <a:t>Encuesta Mundial de Salud Escolar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FD2EA"/>
                </a:solidFill>
                <a:latin typeface="Calibri"/>
              </a:rPr>
              <a:t>Argentina · 2018 (EMSE)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Grupo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BB1A8"/>
                </a:solidFill>
                <a:latin typeface="Calibri"/>
              </a:rPr>
              <a:t>Objetivo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Preparar los datos para predecir si un estudiante está en riesgo de suicidio.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200400"/>
            <a:ext cx="1463040" cy="128016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340156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56.981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05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FD2EA"/>
                </a:solidFill>
                <a:latin typeface="Calibri"/>
              </a:rPr>
              <a:t>estudiantes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3408" y="3200400"/>
            <a:ext cx="1463040" cy="128016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3408" y="340156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153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4005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FD2EA"/>
                </a:solidFill>
                <a:latin typeface="Calibri"/>
              </a:rPr>
              <a:t>preguntas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6" y="3200400"/>
            <a:ext cx="1463040" cy="128016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340156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22,8%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4005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FD2EA"/>
                </a:solidFill>
                <a:latin typeface="Calibri"/>
              </a:rPr>
              <a:t>en riesgo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21824" y="3200400"/>
            <a:ext cx="1463040" cy="1280160"/>
          </a:xfrm>
          <a:prstGeom prst="roundRect">
            <a:avLst/>
          </a:prstGeom>
          <a:solidFill>
            <a:srgbClr val="1F3A5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3401568"/>
            <a:ext cx="1463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1824" y="4005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BFD2EA"/>
                </a:solidFill>
                <a:latin typeface="Calibri"/>
              </a:rP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46320"/>
            <a:ext cx="6583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2BB1A8"/>
                </a:solidFill>
                <a:latin typeface="Calibri"/>
              </a:rPr>
              <a:t>Pipeline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DCE7F5"/>
                </a:solidFill>
                <a:latin typeface="Calibri"/>
              </a:rPr>
              <a:t>Preselección  →  Split  →  Nulos  →  Escalado  →  Balanceo  →  Chi²  →  PCA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502920" cy="91440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A8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Un target fuertemente desbalanceado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EDA · Encuesta Mundial de Salud Escolar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471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Grupo 10   |   2/5</a:t>
            </a:r>
          </a:p>
        </p:txBody>
      </p:sp>
      <p:pic>
        <p:nvPicPr>
          <p:cNvPr id="11" name="Picture 10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54480"/>
            <a:ext cx="3566160" cy="310438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4841748"/>
            <a:ext cx="347472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4841748"/>
            <a:ext cx="91440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5042916"/>
            <a:ext cx="310896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>
                <a:solidFill>
                  <a:srgbClr val="2E6FB7"/>
                </a:solidFill>
                <a:latin typeface="Calibri"/>
              </a:rPr>
              <a:t>77,2% </a:t>
            </a:r>
            <a:r>
              <a:rPr lang="es-AR" sz="30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vs</a:t>
            </a:r>
            <a:r>
              <a:rPr sz="3000" b="1" dirty="0">
                <a:solidFill>
                  <a:srgbClr val="2E6FB7"/>
                </a:solidFill>
                <a:latin typeface="Calibri"/>
              </a:rPr>
              <a:t> </a:t>
            </a:r>
            <a:r>
              <a:rPr sz="3000" b="1" dirty="0">
                <a:solidFill>
                  <a:schemeClr val="accent6"/>
                </a:solidFill>
                <a:latin typeface="Calibri"/>
              </a:rPr>
              <a:t>22,8%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5516" y="5569482"/>
            <a:ext cx="306324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s-AR" sz="1150" dirty="0">
                <a:solidFill>
                  <a:srgbClr val="6B7A88"/>
                </a:solidFill>
                <a:latin typeface="Calibri"/>
              </a:rPr>
              <a:t>Sin </a:t>
            </a:r>
            <a:r>
              <a:rPr lang="es-AR" sz="1150">
                <a:solidFill>
                  <a:srgbClr val="6B7A88"/>
                </a:solidFill>
                <a:latin typeface="Calibri"/>
              </a:rPr>
              <a:t>riesgo</a:t>
            </a:r>
            <a:r>
              <a:rPr sz="1150" b="0" dirty="0">
                <a:solidFill>
                  <a:srgbClr val="6B7A88"/>
                </a:solidFill>
                <a:latin typeface="Calibri"/>
              </a:rPr>
              <a:t>  </a:t>
            </a:r>
            <a:r>
              <a:rPr lang="es-AR" sz="1150" b="0" dirty="0">
                <a:solidFill>
                  <a:srgbClr val="6B7A88"/>
                </a:solidFill>
                <a:latin typeface="Calibri"/>
              </a:rPr>
              <a:t>                             Con riesgo</a:t>
            </a:r>
            <a:endParaRPr sz="1150" b="0" dirty="0">
              <a:solidFill>
                <a:srgbClr val="6B7A8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1600200"/>
            <a:ext cx="7223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dirty="0">
                <a:solidFill>
                  <a:srgbClr val="2BB1A8"/>
                </a:solidFill>
              </a:rPr>
              <a:t>▸  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Solo 1 de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cada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4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estudiantes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pertenece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a la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clase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de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interés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2BB1A8"/>
                </a:solidFill>
              </a:rPr>
              <a:t>▸  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Un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modelo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sin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tratar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acertaría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77%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prediciendo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siempre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«no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riesgo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»… sin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detectar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ningún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caso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real.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2BB1A8"/>
                </a:solidFill>
              </a:rPr>
              <a:t>▸  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Split 80/20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estratificado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el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test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conserva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la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proporción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real (77,2 / 22,8).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2BB1A8"/>
                </a:solidFill>
              </a:rPr>
              <a:t>▸  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SMOTE solo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sobre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train: genera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casos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sintéticos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de la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clase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minoritaria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, sin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duplicar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ni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descartar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3303B"/>
                </a:solidFill>
                <a:latin typeface="Calibri"/>
              </a:rPr>
              <a:t>datos</a:t>
            </a:r>
            <a:r>
              <a:rPr sz="1500" b="0" dirty="0">
                <a:solidFill>
                  <a:srgbClr val="23303B"/>
                </a:solidFill>
                <a:latin typeface="Calibri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 dirty="0">
                <a:solidFill>
                  <a:srgbClr val="2BB1A8"/>
                </a:solidFill>
              </a:rPr>
              <a:t>▸  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El test NO se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balancea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: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debe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reflejar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la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distribución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real para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una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evaluación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23303B"/>
                </a:solidFill>
                <a:latin typeface="Calibri"/>
              </a:rPr>
              <a:t>honesta</a:t>
            </a:r>
            <a:r>
              <a:rPr sz="1500" b="1" dirty="0">
                <a:solidFill>
                  <a:srgbClr val="23303B"/>
                </a:solidFill>
                <a:latin typeface="Calibri"/>
              </a:rPr>
              <a:t>.</a:t>
            </a:r>
          </a:p>
        </p:txBody>
      </p:sp>
      <p:pic>
        <p:nvPicPr>
          <p:cNvPr id="17" name="Picture 16" descr="sm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4078224"/>
            <a:ext cx="49377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502920" cy="91440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A8"/>
                </a:solidFill>
                <a:latin typeface="Calibri"/>
              </a:rPr>
              <a:t>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De 153 preguntas a un dataset listo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EDA · Encuesta Mundial de Salud Escolar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471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Grupo 10   |   3/5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265176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91440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75564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E6FB7"/>
                </a:solidFill>
                <a:latin typeface="Calibri"/>
              </a:rPr>
              <a:t>153 → 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9572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preselección temática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65176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554480"/>
            <a:ext cx="91440" cy="1371600"/>
          </a:xfrm>
          <a:prstGeom prst="rect">
            <a:avLst/>
          </a:prstGeom>
          <a:solidFill>
            <a:srgbClr val="2B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85032" y="175564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B1A8"/>
                </a:solidFill>
                <a:latin typeface="Calibri"/>
              </a:rPr>
              <a:t>&lt; 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9572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nulos máx. (q34)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65176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91440" cy="1371600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75564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704A"/>
                </a:solidFill>
                <a:latin typeface="Calibri"/>
              </a:rPr>
              <a:t>29,4%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9572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se perdería al borrar filas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554480"/>
            <a:ext cx="256032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1554480"/>
            <a:ext cx="9144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62872" y="1755648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9572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registros conservados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50" b="1">
                <a:solidFill>
                  <a:srgbClr val="2BB1A8"/>
                </a:solidFill>
              </a:rPr>
              <a:t>▸  </a:t>
            </a:r>
            <a:r>
              <a:rPr sz="1550" b="0">
                <a:solidFill>
                  <a:srgbClr val="23303B"/>
                </a:solidFill>
                <a:latin typeface="Calibri"/>
              </a:rPr>
              <a:t>6 dimensiones temáticas: demografía, salud mental, violencia, apoyo familiar, sustancias y factores socioeconómicos.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2BB1A8"/>
                </a:solidFill>
              </a:rPr>
              <a:t>▸  </a:t>
            </a:r>
            <a:r>
              <a:rPr sz="1550" b="1">
                <a:solidFill>
                  <a:srgbClr val="23303B"/>
                </a:solidFill>
                <a:latin typeface="Calibri"/>
              </a:rPr>
              <a:t>Imputación por moda (variables categóricas), ajustada solo en train → evita data leakage.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2BB1A8"/>
                </a:solidFill>
              </a:rPr>
              <a:t>▸  </a:t>
            </a:r>
            <a:r>
              <a:rPr sz="1550" b="0">
                <a:solidFill>
                  <a:srgbClr val="23303B"/>
                </a:solidFill>
                <a:latin typeface="Calibri"/>
              </a:rPr>
              <a:t>Patrón en los nulos: el bloque de apoyo parental se correlaciona hasta 0,76 → no-respuesta por bloque (MAR), no azar puro.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2BB1A8"/>
                </a:solidFill>
              </a:rPr>
              <a:t>▸  </a:t>
            </a:r>
            <a:r>
              <a:rPr sz="1550" b="0">
                <a:solidFill>
                  <a:srgbClr val="23303B"/>
                </a:solidFill>
                <a:latin typeface="Calibri"/>
              </a:rPr>
              <a:t>Escalado MinMax [0,1]: requisito para SMOTE y modelos basados en distancia (KNN, SVM, redes).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502920" cy="91440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A8"/>
                </a:solidFill>
                <a:latin typeface="Calibri"/>
              </a:rPr>
              <a:t>SELECCIÓN Y REDUCCIÓN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Qué variables importan, y cuántas bastan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EDA · Encuesta Mundial de Salud Escolar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471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Grupo 10   |   4/5</a:t>
            </a:r>
          </a:p>
        </p:txBody>
      </p:sp>
      <p:pic>
        <p:nvPicPr>
          <p:cNvPr id="11" name="Picture 10" descr="ch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290" y="18288"/>
            <a:ext cx="5173421" cy="3506724"/>
          </a:xfrm>
          <a:prstGeom prst="rect">
            <a:avLst/>
          </a:prstGeom>
        </p:spPr>
      </p:pic>
      <p:pic>
        <p:nvPicPr>
          <p:cNvPr id="12" name="Picture 11" descr="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842" y="3414631"/>
            <a:ext cx="4754880" cy="31416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164592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1">
                <a:solidFill>
                  <a:srgbClr val="2BB1A8"/>
                </a:solidFill>
              </a:rPr>
              <a:t>▸  </a:t>
            </a:r>
            <a:r>
              <a:rPr sz="1450" b="0">
                <a:solidFill>
                  <a:srgbClr val="23303B"/>
                </a:solidFill>
                <a:latin typeface="Calibri"/>
              </a:rPr>
              <a:t>Chi² mide la relación de cada variable categórica con el target.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BB1A8"/>
                </a:solidFill>
              </a:rPr>
              <a:t>▸  </a:t>
            </a:r>
            <a:r>
              <a:rPr sz="1450" b="1">
                <a:solidFill>
                  <a:srgbClr val="23303B"/>
                </a:solidFill>
                <a:latin typeface="Calibri"/>
              </a:rPr>
              <a:t>q24 domina con score ×4,2 sobre la 2ª: es casi sinónimo del objetivo.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BB1A8"/>
                </a:solidFill>
              </a:rPr>
              <a:t>▸  </a:t>
            </a:r>
            <a:r>
              <a:rPr sz="1450" b="1">
                <a:solidFill>
                  <a:srgbClr val="23303B"/>
                </a:solidFill>
                <a:latin typeface="Calibri"/>
              </a:rPr>
              <a:t>→ Se descarta para evitar data leakage.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BB1A8"/>
                </a:solidFill>
              </a:rPr>
              <a:t>▸  </a:t>
            </a:r>
            <a:r>
              <a:rPr sz="1450" b="0">
                <a:solidFill>
                  <a:srgbClr val="23303B"/>
                </a:solidFill>
                <a:latin typeface="Calibri"/>
              </a:rPr>
              <a:t>Pesan más los factores emocionales y familiares (q22, q80, q23) que el consumo o la violencia.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269748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91440" cy="13716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09320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E6FB7"/>
                </a:solidFill>
                <a:latin typeface="Calibri"/>
              </a:rPr>
              <a:t>19 vars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33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≈ 90% del score χ²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892040"/>
            <a:ext cx="2697480" cy="13716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4892040"/>
            <a:ext cx="91440" cy="1371600"/>
          </a:xfrm>
          <a:prstGeom prst="rect">
            <a:avLst/>
          </a:prstGeom>
          <a:solidFill>
            <a:srgbClr val="2B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30752" y="5093208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B1A8"/>
                </a:solidFill>
                <a:latin typeface="Calibri"/>
              </a:rPr>
              <a:t>12 comp.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7332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A88"/>
                </a:solidFill>
                <a:latin typeface="Calibri"/>
              </a:rPr>
              <a:t>90% de varianza (PCA)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84048"/>
            <a:ext cx="502920" cy="91440"/>
          </a:xfrm>
          <a:prstGeom prst="rect">
            <a:avLst/>
          </a:prstGeom>
          <a:solidFill>
            <a:srgbClr val="E87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BB1A8"/>
                </a:solidFill>
                <a:latin typeface="Calibri"/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Lectura del análisis y entregables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EDA · Encuesta Mundial de Salud Escolar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5471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Grupo 10   |  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BB1A8"/>
                </a:solidFill>
              </a:rPr>
              <a:t>▸  </a:t>
            </a:r>
            <a:r>
              <a:rPr sz="1600" b="1">
                <a:solidFill>
                  <a:srgbClr val="23303B"/>
                </a:solidFill>
                <a:latin typeface="Calibri"/>
              </a:rPr>
              <a:t>El riesgo se asocia más a lo emocional y familiar que al consumo de sustancias.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B1A8"/>
                </a:solidFill>
              </a:rPr>
              <a:t>▸  </a:t>
            </a:r>
            <a:r>
              <a:rPr sz="1600" b="1">
                <a:solidFill>
                  <a:srgbClr val="23303B"/>
                </a:solidFill>
                <a:latin typeface="Calibri"/>
              </a:rPr>
              <a:t>Target minoritario (22,8%): el balanceo y la métrica de evaluación (recall/F1, no accuracy) son críticos.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B1A8"/>
                </a:solidFill>
              </a:rPr>
              <a:t>▸  </a:t>
            </a:r>
            <a:r>
              <a:rPr sz="1600" b="0">
                <a:solidFill>
                  <a:srgbClr val="23303B"/>
                </a:solidFill>
                <a:latin typeface="Calibri"/>
              </a:rPr>
              <a:t>Nulos pocos y manejables → se conservó el 100% de los registros vía imputación.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B1A8"/>
                </a:solidFill>
              </a:rPr>
              <a:t>▸  </a:t>
            </a:r>
            <a:r>
              <a:rPr sz="1600" b="0">
                <a:solidFill>
                  <a:srgbClr val="23303B"/>
                </a:solidFill>
                <a:latin typeface="Calibri"/>
              </a:rPr>
              <a:t>En PC1–PC2 las clases se superponen → se anticipa la necesidad de un modelo no lineal.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60520"/>
            <a:ext cx="10972800" cy="914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160520"/>
            <a:ext cx="109728" cy="914400"/>
          </a:xfrm>
          <a:prstGeom prst="rect">
            <a:avLst/>
          </a:prstGeom>
          <a:solidFill>
            <a:srgbClr val="2B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8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Entregables:  </a:t>
            </a:r>
            <a:r>
              <a:rPr sz="1400" b="1">
                <a:solidFill>
                  <a:srgbClr val="2E6FB7"/>
                </a:solidFill>
                <a:latin typeface="Calibri"/>
              </a:rPr>
              <a:t>X_train_final / X_test_final</a:t>
            </a:r>
            <a:r>
              <a:rPr sz="1400" b="0">
                <a:solidFill>
                  <a:srgbClr val="23303B"/>
                </a:solidFill>
                <a:latin typeface="Calibri"/>
              </a:rPr>
              <a:t>  (train escalado + balanceado + 12 componentes; test escalado, sin balancear).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57800"/>
            <a:ext cx="10972800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2180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E0A458"/>
                </a:solidFill>
                <a:latin typeface="Calibri"/>
              </a:rPr>
              <a:t>⚠  Limitación:  </a:t>
            </a:r>
            <a:r>
              <a:rPr sz="1350" b="0">
                <a:solidFill>
                  <a:srgbClr val="FFFFFF"/>
                </a:solidFill>
                <a:latin typeface="Calibri"/>
              </a:rPr>
              <a:t>los datos son de auto-reporte y el target es una derivación propia. Describimos asociaciones, no relaciones causales.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555</Words>
  <Application>Microsoft Office PowerPoint</Application>
  <PresentationFormat>Widescreen</PresentationFormat>
  <Paragraphs>67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Ezequiel Radío Villanueva Villanueva</cp:lastModifiedBy>
  <cp:revision>2</cp:revision>
  <dcterms:created xsi:type="dcterms:W3CDTF">2013-01-27T09:14:16Z</dcterms:created>
  <dcterms:modified xsi:type="dcterms:W3CDTF">2026-06-13T05:09:45Z</dcterms:modified>
  <cp:category/>
</cp:coreProperties>
</file>